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4cbdb8f8b694453" /><Relationship Type="http://schemas.openxmlformats.org/officeDocument/2006/relationships/extended-properties" Target="/docProps/app.xml" Id="Re3400760ca9a47f8" /><Relationship Type="http://schemas.openxmlformats.org/officeDocument/2006/relationships/officeDocument" Target="/ppt/presentation.xml" Id="R23f4bd038a384c35" /></Relationships>
</file>

<file path=ppt/presentation.xml><?xml version="1.0" encoding="utf-8"?>
<p:presentation xmlns:p="http://schemas.openxmlformats.org/presentationml/2006/main">
  <p:sldMasterIdLst>
    <p:sldMasterId xmlns:r="http://schemas.openxmlformats.org/officeDocument/2006/relationships" id="2147483648" r:id="R089970546ea7402d"/>
  </p:sldMasterIdLst>
  <p:notesMasterIdLst>
    <p:notesMasterId xmlns:r="http://schemas.openxmlformats.org/officeDocument/2006/relationships" r:id="Ra2f2ddf532044455"/>
  </p:notesMasterIdLst>
  <p:sldIdLst>
    <p:sldId xmlns:r="http://schemas.openxmlformats.org/officeDocument/2006/relationships" id="256" r:id="R1627060df9554fd6"/>
    <p:sldId xmlns:r="http://schemas.openxmlformats.org/officeDocument/2006/relationships" id="257" r:id="R5008968da11144b5"/>
    <p:sldId xmlns:r="http://schemas.openxmlformats.org/officeDocument/2006/relationships" id="258" r:id="R97fbd56755024a39"/>
    <p:sldId xmlns:r="http://schemas.openxmlformats.org/officeDocument/2006/relationships" id="259" r:id="R0a3ea797c6c64267"/>
    <p:sldId xmlns:r="http://schemas.openxmlformats.org/officeDocument/2006/relationships" id="260" r:id="R3466db1497314896"/>
    <p:sldId xmlns:r="http://schemas.openxmlformats.org/officeDocument/2006/relationships" id="261" r:id="R3a20c7f117fd4835"/>
    <p:sldId xmlns:r="http://schemas.openxmlformats.org/officeDocument/2006/relationships" id="262" r:id="R05a03eb571dd4f7e"/>
    <p:sldId xmlns:r="http://schemas.openxmlformats.org/officeDocument/2006/relationships" id="263" r:id="R53182ea68ad849de"/>
    <p:sldId xmlns:r="http://schemas.openxmlformats.org/officeDocument/2006/relationships" id="264" r:id="R27a4b767474d4f22"/>
    <p:sldId xmlns:r="http://schemas.openxmlformats.org/officeDocument/2006/relationships" id="265" r:id="R1febcc1e8aa94fea"/>
    <p:sldId xmlns:r="http://schemas.openxmlformats.org/officeDocument/2006/relationships" id="266" r:id="R9ee150df7e364e2b"/>
    <p:sldId xmlns:r="http://schemas.openxmlformats.org/officeDocument/2006/relationships" id="267" r:id="R2c21f5c055c5499a"/>
    <p:sldId xmlns:r="http://schemas.openxmlformats.org/officeDocument/2006/relationships" id="268" r:id="R28d2c0ae21314e0d"/>
    <p:sldId xmlns:r="http://schemas.openxmlformats.org/officeDocument/2006/relationships" id="269" r:id="R618a7178bed44070"/>
    <p:sldId xmlns:r="http://schemas.openxmlformats.org/officeDocument/2006/relationships" id="270" r:id="R78f4b03d537e4d5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4d14057068243cc" /><Relationship Type="http://schemas.openxmlformats.org/officeDocument/2006/relationships/slideMaster" Target="/ppt/slideMasters/slideMaster1.xml" Id="R089970546ea7402d" /><Relationship Type="http://schemas.openxmlformats.org/officeDocument/2006/relationships/notesMaster" Target="/ppt/notesMasters/notesMaster1.xml" Id="Ra2f2ddf532044455" /><Relationship Type="http://schemas.openxmlformats.org/officeDocument/2006/relationships/presProps" Target="/ppt/presProps.xml" Id="Rc429a2028f9b43f7" /><Relationship Type="http://schemas.openxmlformats.org/officeDocument/2006/relationships/tableStyles" Target="/ppt/tableStyles.xml" Id="R4bc3ff8453dd42e0" /><Relationship Type="http://schemas.openxmlformats.org/officeDocument/2006/relationships/slide" Target="/ppt/slides/slide1.xml" Id="R1627060df9554fd6" /><Relationship Type="http://schemas.openxmlformats.org/officeDocument/2006/relationships/slide" Target="/ppt/slides/slide2.xml" Id="R5008968da11144b5" /><Relationship Type="http://schemas.openxmlformats.org/officeDocument/2006/relationships/slide" Target="/ppt/slides/slide3.xml" Id="R97fbd56755024a39" /><Relationship Type="http://schemas.openxmlformats.org/officeDocument/2006/relationships/slide" Target="/ppt/slides/slide4.xml" Id="R0a3ea797c6c64267" /><Relationship Type="http://schemas.openxmlformats.org/officeDocument/2006/relationships/slide" Target="/ppt/slides/slide5.xml" Id="R3466db1497314896" /><Relationship Type="http://schemas.openxmlformats.org/officeDocument/2006/relationships/slide" Target="/ppt/slides/slide6.xml" Id="R3a20c7f117fd4835" /><Relationship Type="http://schemas.openxmlformats.org/officeDocument/2006/relationships/slide" Target="/ppt/slides/slide7.xml" Id="R05a03eb571dd4f7e" /><Relationship Type="http://schemas.openxmlformats.org/officeDocument/2006/relationships/slide" Target="/ppt/slides/slide8.xml" Id="R53182ea68ad849de" /><Relationship Type="http://schemas.openxmlformats.org/officeDocument/2006/relationships/slide" Target="/ppt/slides/slide9.xml" Id="R27a4b767474d4f22" /><Relationship Type="http://schemas.openxmlformats.org/officeDocument/2006/relationships/slide" Target="/ppt/slides/slide10.xml" Id="R1febcc1e8aa94fea" /><Relationship Type="http://schemas.openxmlformats.org/officeDocument/2006/relationships/slide" Target="/ppt/slides/slide11.xml" Id="R9ee150df7e364e2b" /><Relationship Type="http://schemas.openxmlformats.org/officeDocument/2006/relationships/slide" Target="/ppt/slides/slide12.xml" Id="R2c21f5c055c5499a" /><Relationship Type="http://schemas.openxmlformats.org/officeDocument/2006/relationships/slide" Target="/ppt/slides/slide13.xml" Id="R28d2c0ae21314e0d" /><Relationship Type="http://schemas.openxmlformats.org/officeDocument/2006/relationships/slide" Target="/ppt/slides/slide14.xml" Id="R618a7178bed44070" /><Relationship Type="http://schemas.openxmlformats.org/officeDocument/2006/relationships/slide" Target="/ppt/slides/slide15.xml" Id="R78f4b03d537e4d5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9b358ea8db34c9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21c1874cdf941b3" /><Relationship Type="http://schemas.openxmlformats.org/officeDocument/2006/relationships/notesMaster" Target="/ppt/notesMasters/notesMaster1.xml" Id="R99c3d9151640468f" /></Relationships>
</file>

<file path=ppt/notesSlides/_rels/notesSlide2.xml.rels>&#65279;<?xml version="1.0" encoding="utf-8"?><Relationships xmlns="http://schemas.openxmlformats.org/package/2006/relationships"><Relationship Type="http://schemas.openxmlformats.org/officeDocument/2006/relationships/slide" Target="/ppt/slides/slide2.xml" Id="R6803b3b60598457d" /><Relationship Type="http://schemas.openxmlformats.org/officeDocument/2006/relationships/notesMaster" Target="/ppt/notesMasters/notesMaster1.xml" Id="Rb042357db666450d" /></Relationships>
</file>

<file path=ppt/notesSlides/_rels/notesSlide3.xml.rels>&#65279;<?xml version="1.0" encoding="utf-8"?><Relationships xmlns="http://schemas.openxmlformats.org/package/2006/relationships"><Relationship Type="http://schemas.openxmlformats.org/officeDocument/2006/relationships/slide" Target="/ppt/slides/slide3.xml" Id="R02f0c9362d19497d" /><Relationship Type="http://schemas.openxmlformats.org/officeDocument/2006/relationships/notesMaster" Target="/ppt/notesMasters/notesMaster1.xml" Id="R66b9fdcb64cf40a9" /></Relationships>
</file>

<file path=ppt/notesSlides/_rels/notesSlide4.xml.rels>&#65279;<?xml version="1.0" encoding="utf-8"?><Relationships xmlns="http://schemas.openxmlformats.org/package/2006/relationships"><Relationship Type="http://schemas.openxmlformats.org/officeDocument/2006/relationships/slide" Target="/ppt/slides/slide4.xml" Id="R968b52bacd1544b0" /><Relationship Type="http://schemas.openxmlformats.org/officeDocument/2006/relationships/notesMaster" Target="/ppt/notesMasters/notesMaster1.xml" Id="R0cfca5f341764e57" /></Relationships>
</file>

<file path=ppt/notesSlides/_rels/notesSlide5.xml.rels>&#65279;<?xml version="1.0" encoding="utf-8"?><Relationships xmlns="http://schemas.openxmlformats.org/package/2006/relationships"><Relationship Type="http://schemas.openxmlformats.org/officeDocument/2006/relationships/slide" Target="/ppt/slides/slide5.xml" Id="R8e3f39db69b74f90" /><Relationship Type="http://schemas.openxmlformats.org/officeDocument/2006/relationships/notesMaster" Target="/ppt/notesMasters/notesMaster1.xml" Id="Rcd3d49bb27f64ec1" /></Relationships>
</file>

<file path=ppt/notesSlides/_rels/notesSlide6.xml.rels>&#65279;<?xml version="1.0" encoding="utf-8"?><Relationships xmlns="http://schemas.openxmlformats.org/package/2006/relationships"><Relationship Type="http://schemas.openxmlformats.org/officeDocument/2006/relationships/slide" Target="/ppt/slides/slide6.xml" Id="Ra1aa426a42db4688" /><Relationship Type="http://schemas.openxmlformats.org/officeDocument/2006/relationships/notesMaster" Target="/ppt/notesMasters/notesMaster1.xml" Id="Ree35fc430e44466a" /></Relationships>
</file>

<file path=ppt/notesSlides/_rels/notesSlide7.xml.rels>&#65279;<?xml version="1.0" encoding="utf-8"?><Relationships xmlns="http://schemas.openxmlformats.org/package/2006/relationships"><Relationship Type="http://schemas.openxmlformats.org/officeDocument/2006/relationships/slide" Target="/ppt/slides/slide7.xml" Id="R61414c1ce8f54f8a" /><Relationship Type="http://schemas.openxmlformats.org/officeDocument/2006/relationships/notesMaster" Target="/ppt/notesMasters/notesMaster1.xml" Id="Re2330f01d81f4b3f"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051728d0234456" /><Relationship Type="http://schemas.openxmlformats.org/officeDocument/2006/relationships/notesMaster" Target="/ppt/notesMasters/notesMaster1.xml" Id="R72789d5b97974257" /></Relationships>
</file>

<file path=ppt/notesSlides/_rels/notesSlide9.xml.rels>&#65279;<?xml version="1.0" encoding="utf-8"?><Relationships xmlns="http://schemas.openxmlformats.org/package/2006/relationships"><Relationship Type="http://schemas.openxmlformats.org/officeDocument/2006/relationships/slide" Target="/ppt/slides/slide9.xml" Id="R6f475e508ad74d67" /><Relationship Type="http://schemas.openxmlformats.org/officeDocument/2006/relationships/notesMaster" Target="/ppt/notesMasters/notesMaster1.xml" Id="Rc17bf347e532476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863bcab45940f4" /><Relationship Type="http://schemas.openxmlformats.org/officeDocument/2006/relationships/notesMaster" Target="/ppt/notesMasters/notesMaster1.xml" Id="R7fd412fd086c48b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f119e7c39e644ea" /><Relationship Type="http://schemas.openxmlformats.org/officeDocument/2006/relationships/notesMaster" Target="/ppt/notesMasters/notesMaster1.xml" Id="Rbaea652167e24fd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088c712dcb94506" /><Relationship Type="http://schemas.openxmlformats.org/officeDocument/2006/relationships/notesMaster" Target="/ppt/notesMasters/notesMaster1.xml" Id="R4dba3508a58e418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a2d6513d71b447f" /><Relationship Type="http://schemas.openxmlformats.org/officeDocument/2006/relationships/notesMaster" Target="/ppt/notesMasters/notesMaster1.xml" Id="R0c8e8d9f678841d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c951b9d5454401f" /><Relationship Type="http://schemas.openxmlformats.org/officeDocument/2006/relationships/notesMaster" Target="/ppt/notesMasters/notesMaster1.xml" Id="R84044018ce324da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66e645c34240493a" /><Relationship Type="http://schemas.openxmlformats.org/officeDocument/2006/relationships/notesMaster" Target="/ppt/notesMasters/notesMaster1.xml" Id="Rdbcb350e91d246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OSInsight-AI project deliverable. Claims describe the source code in this repository.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d38e9f26b24dc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99fa85cbd14048" /><Relationship Type="http://schemas.openxmlformats.org/officeDocument/2006/relationships/slideLayout" Target="/ppt/slideLayouts/slideLayout1.xml" Id="Rd676561fee894fe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676561fee894fe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2abbc41a60541cc" /><Relationship Type="http://schemas.openxmlformats.org/officeDocument/2006/relationships/notesSlide" Target="/ppt/notesSlides/notesSlide1.xml" Id="R7bd91e8691334c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e60b360d61394e4e" /><Relationship Type="http://schemas.openxmlformats.org/officeDocument/2006/relationships/notesSlide" Target="/ppt/notesSlides/notesSlide2.xml" Id="Rffb17da1401e4d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72ab99981624475" /><Relationship Type="http://schemas.openxmlformats.org/officeDocument/2006/relationships/notesSlide" Target="/ppt/notesSlides/notesSlide3.xml" Id="Radb5c1049556456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81852b20fbd4849" /><Relationship Type="http://schemas.openxmlformats.org/officeDocument/2006/relationships/notesSlide" Target="/ppt/notesSlides/notesSlide4.xml" Id="Rc215ade2dfd0447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a4447aa1c854684" /><Relationship Type="http://schemas.openxmlformats.org/officeDocument/2006/relationships/notesSlide" Target="/ppt/notesSlides/notesSlide5.xml" Id="R06f67d770cb1439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3421eb523cc427b" /><Relationship Type="http://schemas.openxmlformats.org/officeDocument/2006/relationships/notesSlide" Target="/ppt/notesSlides/notesSlide6.xml" Id="Rf3c7a2803dd241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9f2cc2b1e2e64669" /><Relationship Type="http://schemas.openxmlformats.org/officeDocument/2006/relationships/notesSlide" Target="/ppt/notesSlides/notesSlide7.xml" Id="Rf02bf4d5c89e44a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678614816ee544ab" /><Relationship Type="http://schemas.openxmlformats.org/officeDocument/2006/relationships/notesSlide" Target="/ppt/notesSlides/notesSlide8.xml" Id="Rf1edd6a7f815493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ba2830dcae04d6f" /><Relationship Type="http://schemas.openxmlformats.org/officeDocument/2006/relationships/notesSlide" Target="/ppt/notesSlides/notesSlide9.xml" Id="Rb5336c448e8843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5aa33a19a0c467b" /><Relationship Type="http://schemas.openxmlformats.org/officeDocument/2006/relationships/notesSlide" Target="/ppt/notesSlides/notesSlide10.xml" Id="R244da22fc08f40a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dc9459a9c8e4f52" /><Relationship Type="http://schemas.openxmlformats.org/officeDocument/2006/relationships/notesSlide" Target="/ppt/notesSlides/notesSlide11.xml" Id="Rab67f086a5cb4b79"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85347b7058f4f9a" /><Relationship Type="http://schemas.openxmlformats.org/officeDocument/2006/relationships/notesSlide" Target="/ppt/notesSlides/notesSlide12.xml" Id="Rb5a5fc9ca0e7470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57ddd6dc6e148e7" /><Relationship Type="http://schemas.openxmlformats.org/officeDocument/2006/relationships/notesSlide" Target="/ppt/notesSlides/notesSlide13.xml" Id="R3e45a4cbd83f411c"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571963c4b50642a3" /><Relationship Type="http://schemas.openxmlformats.org/officeDocument/2006/relationships/notesSlide" Target="/ppt/notesSlides/notesSlide14.xml" Id="R49064b4686c7405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da928d659f742eb" /><Relationship Type="http://schemas.openxmlformats.org/officeDocument/2006/relationships/notesSlide" Target="/ppt/notesSlides/notesSlide15.xml" Id="R00b8872649814181" /></Relationships>
</file>

<file path=ppt/slides/slide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A7DC308-49B9-40AA-85B7-545B8113406C}"/>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D48552D-BA18-4FE9-863A-703186BF02BB}"/>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OSInsight AI</a:t>
            </a:r>
          </a:p>
        </p:txBody>
      </p:sp>
      <p:sp>
        <p:nvSpPr>
          <p:cNvPr id="3" name="">
            <a:extLst xmlns:a="http://schemas.openxmlformats.org/drawingml/2006/main">
              <a:ext uri="{FF2B5EF4-FFF2-40B4-BE49-F238E27FC236}">
                <a16:creationId xmlns:a16="http://schemas.microsoft.com/office/drawing/2014/main" id="{C6A60196-17A6-40B2-B998-904877F18C6A}"/>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AI Powered Performance Analyzer for Operating System Processes</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University Project Presentation</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October 2026</a:t>
            </a:r>
          </a:p>
        </p:txBody>
      </p:sp>
      <p:sp>
        <p:nvSpPr>
          <p:cNvPr id="4" name="">
            <a:extLst xmlns:a="http://schemas.openxmlformats.org/drawingml/2006/main">
              <a:ext uri="{FF2B5EF4-FFF2-40B4-BE49-F238E27FC236}">
                <a16:creationId xmlns:a16="http://schemas.microsoft.com/office/drawing/2014/main" id="{A217BA54-60D5-43E6-B9BC-A7FADD2EE299}"/>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 / 15</a:t>
            </a:r>
          </a:p>
        </p:txBody>
      </p:sp>
    </p:spTree>
    <p:extLst>
      <p:ext uri="{BB962C8B-B14F-4D97-AF65-F5344CB8AC3E}">
        <p14:creationId xmlns:p14="http://schemas.microsoft.com/office/powerpoint/2010/main" val="1090150024"/>
      </p:ext>
    </p:extLst>
  </p:cSld>
</p:sld>
</file>

<file path=ppt/slides/slide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DC05D30-8F15-4D05-891F-7A920F4555A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A6CE981-7016-437C-8E26-F0D5F71F8617}"/>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Problem Statement</a:t>
            </a:r>
          </a:p>
        </p:txBody>
      </p:sp>
      <p:sp>
        <p:nvSpPr>
          <p:cNvPr id="3" name="">
            <a:extLst xmlns:a="http://schemas.openxmlformats.org/drawingml/2006/main">
              <a:ext uri="{FF2B5EF4-FFF2-40B4-BE49-F238E27FC236}">
                <a16:creationId xmlns:a16="http://schemas.microsoft.com/office/drawing/2014/main" id="{FB6639B0-8B58-44D7-A0B0-2BBAFC809818}"/>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Raw process lists show current values but rarely explain rising resource pressure. Users need one local view that relates CPU, memory, disk, process activity, and likely next-step demand.</a:t>
            </a:r>
          </a:p>
        </p:txBody>
      </p:sp>
      <p:sp>
        <p:nvSpPr>
          <p:cNvPr id="4" name="">
            <a:extLst xmlns:a="http://schemas.openxmlformats.org/drawingml/2006/main">
              <a:ext uri="{FF2B5EF4-FFF2-40B4-BE49-F238E27FC236}">
                <a16:creationId xmlns:a16="http://schemas.microsoft.com/office/drawing/2014/main" id="{E4BA5A3F-AD2B-4931-8258-0AB4FE646171}"/>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2 / 15</a:t>
            </a:r>
          </a:p>
        </p:txBody>
      </p:sp>
    </p:spTree>
    <p:extLst>
      <p:ext uri="{BB962C8B-B14F-4D97-AF65-F5344CB8AC3E}">
        <p14:creationId xmlns:p14="http://schemas.microsoft.com/office/powerpoint/2010/main" val="441571332"/>
      </p:ext>
    </p:extLst>
  </p:cSld>
</p:sld>
</file>

<file path=ppt/slides/slide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5C04818-0C68-4955-8B0B-F08AA01751FB}"/>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F584212-4883-43B9-8EBD-9C5C46EBA0C5}"/>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Objectives</a:t>
            </a:r>
          </a:p>
        </p:txBody>
      </p:sp>
      <p:sp>
        <p:nvSpPr>
          <p:cNvPr id="3" name="">
            <a:extLst xmlns:a="http://schemas.openxmlformats.org/drawingml/2006/main">
              <a:ext uri="{FF2B5EF4-FFF2-40B4-BE49-F238E27FC236}">
                <a16:creationId xmlns:a16="http://schemas.microsoft.com/office/drawing/2014/main" id="{5E655AC1-2349-4126-968A-B030CA223937}"/>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Collect live telemetry</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Maintain a portable history</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Forecast CPU and memory consumption</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Detect bottlenecks and offer safe recommendations</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Export review-ready reports</a:t>
            </a:r>
          </a:p>
        </p:txBody>
      </p:sp>
      <p:sp>
        <p:nvSpPr>
          <p:cNvPr id="4" name="">
            <a:extLst xmlns:a="http://schemas.openxmlformats.org/drawingml/2006/main">
              <a:ext uri="{FF2B5EF4-FFF2-40B4-BE49-F238E27FC236}">
                <a16:creationId xmlns:a16="http://schemas.microsoft.com/office/drawing/2014/main" id="{AFA76886-F10F-48D2-8435-F2A620C3C946}"/>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3 / 15</a:t>
            </a:r>
          </a:p>
        </p:txBody>
      </p:sp>
    </p:spTree>
    <p:extLst>
      <p:ext uri="{BB962C8B-B14F-4D97-AF65-F5344CB8AC3E}">
        <p14:creationId xmlns:p14="http://schemas.microsoft.com/office/powerpoint/2010/main" val="903290590"/>
      </p:ext>
    </p:extLst>
  </p:cSld>
</p:sld>
</file>

<file path=ppt/slides/slide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F510B8-33F2-44AD-A66A-F8AEF8CE5A1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DF2B7C2-6A1B-400D-9A40-CA2C2B415B86}"/>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Existing System</a:t>
            </a:r>
          </a:p>
        </p:txBody>
      </p:sp>
      <p:sp>
        <p:nvSpPr>
          <p:cNvPr id="3" name="">
            <a:extLst xmlns:a="http://schemas.openxmlformats.org/drawingml/2006/main">
              <a:ext uri="{FF2B5EF4-FFF2-40B4-BE49-F238E27FC236}">
                <a16:creationId xmlns:a16="http://schemas.microsoft.com/office/drawing/2014/main" id="{1EDF8F2C-E657-4A92-AAE1-8A4AA3492FE1}"/>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Operating-system task managers provide valuable instantaneous readings. They often require manual interpretation and do not include a small, explainable forecast or a project-focused health summary.</a:t>
            </a:r>
          </a:p>
        </p:txBody>
      </p:sp>
      <p:sp>
        <p:nvSpPr>
          <p:cNvPr id="4" name="">
            <a:extLst xmlns:a="http://schemas.openxmlformats.org/drawingml/2006/main">
              <a:ext uri="{FF2B5EF4-FFF2-40B4-BE49-F238E27FC236}">
                <a16:creationId xmlns:a16="http://schemas.microsoft.com/office/drawing/2014/main" id="{1DFAF16F-44F0-4B93-B74D-94B9505E95B3}"/>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4 / 15</a:t>
            </a:r>
          </a:p>
        </p:txBody>
      </p:sp>
    </p:spTree>
    <p:extLst>
      <p:ext uri="{BB962C8B-B14F-4D97-AF65-F5344CB8AC3E}">
        <p14:creationId xmlns:p14="http://schemas.microsoft.com/office/powerpoint/2010/main" val="2147172511"/>
      </p:ext>
    </p:extLst>
  </p:cSld>
</p:sld>
</file>

<file path=ppt/slides/slide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37CDE67-B2E7-4614-A455-4AF2D8E7C5B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28FCDBC-206E-484C-9F81-9E23AF0BD32E}"/>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Proposed System</a:t>
            </a:r>
          </a:p>
        </p:txBody>
      </p:sp>
      <p:sp>
        <p:nvSpPr>
          <p:cNvPr id="3" name="">
            <a:extLst xmlns:a="http://schemas.openxmlformats.org/drawingml/2006/main">
              <a:ext uri="{FF2B5EF4-FFF2-40B4-BE49-F238E27FC236}">
                <a16:creationId xmlns:a16="http://schemas.microsoft.com/office/drawing/2014/main" id="{70B3066E-A393-49CC-B1A7-92A8D05F44F2}"/>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OSInsight-AI turns local psutil readings into a dashboard, a retained CSV history, an explainable trend forecast, bottleneck rules, and exportable PDF or CSV evidence.</a:t>
            </a:r>
          </a:p>
        </p:txBody>
      </p:sp>
      <p:sp>
        <p:nvSpPr>
          <p:cNvPr id="4" name="">
            <a:extLst xmlns:a="http://schemas.openxmlformats.org/drawingml/2006/main">
              <a:ext uri="{FF2B5EF4-FFF2-40B4-BE49-F238E27FC236}">
                <a16:creationId xmlns:a16="http://schemas.microsoft.com/office/drawing/2014/main" id="{0B144472-A791-447F-BF61-44AD0245A944}"/>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5 / 15</a:t>
            </a:r>
          </a:p>
        </p:txBody>
      </p:sp>
    </p:spTree>
    <p:extLst>
      <p:ext uri="{BB962C8B-B14F-4D97-AF65-F5344CB8AC3E}">
        <p14:creationId xmlns:p14="http://schemas.microsoft.com/office/powerpoint/2010/main" val="1500301861"/>
      </p:ext>
    </p:extLst>
  </p:cSld>
</p:sld>
</file>

<file path=ppt/slides/slide6.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9D38FC-683E-4BD8-A84D-BBFF79A8427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CE9DF80-84CE-4832-851E-4C816ECC63DA}"/>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Architecture</a:t>
            </a:r>
          </a:p>
        </p:txBody>
      </p:sp>
      <p:sp>
        <p:nvSpPr>
          <p:cNvPr id="3" name="">
            <a:extLst xmlns:a="http://schemas.openxmlformats.org/drawingml/2006/main">
              <a:ext uri="{FF2B5EF4-FFF2-40B4-BE49-F238E27FC236}">
                <a16:creationId xmlns:a16="http://schemas.microsoft.com/office/drawing/2014/main" id="{C80893AB-C358-43E9-9F1A-BD53D3D831B9}"/>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Operating system telemetry</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  psutil SystemMonitor</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  CSV DataLogger</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  AnalyticsEngine</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  CustomTkinter dashboard and report exports</a:t>
            </a:r>
          </a:p>
          <a:p xmlns:a="http://schemas.openxmlformats.org/drawingml/2006/main">
            <a:r>
              <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Editable Mermaid architecture source: diagrams/system_architecture.mmd</a:t>
            </a:r>
          </a:p>
        </p:txBody>
      </p:sp>
      <p:sp>
        <p:nvSpPr>
          <p:cNvPr id="4" name="">
            <a:extLst xmlns:a="http://schemas.openxmlformats.org/drawingml/2006/main">
              <a:ext uri="{FF2B5EF4-FFF2-40B4-BE49-F238E27FC236}">
                <a16:creationId xmlns:a16="http://schemas.microsoft.com/office/drawing/2014/main" id="{3C16425E-995B-4268-A224-4A697C252024}"/>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6 / 15</a:t>
            </a:r>
          </a:p>
        </p:txBody>
      </p:sp>
    </p:spTree>
    <p:extLst>
      <p:ext uri="{BB962C8B-B14F-4D97-AF65-F5344CB8AC3E}">
        <p14:creationId xmlns:p14="http://schemas.microsoft.com/office/powerpoint/2010/main" val="1721177727"/>
      </p:ext>
    </p:extLst>
  </p:cSld>
</p:sld>
</file>

<file path=ppt/slides/slide7.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B888041-A484-4FDE-B188-2452F06D0E0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8D5A65-E183-4BD6-80FA-BFE199E4E446}"/>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Monitoring Module</a:t>
            </a:r>
          </a:p>
        </p:txBody>
      </p:sp>
      <p:sp>
        <p:nvSpPr>
          <p:cNvPr id="3" name="">
            <a:extLst xmlns:a="http://schemas.openxmlformats.org/drawingml/2006/main">
              <a:ext uri="{FF2B5EF4-FFF2-40B4-BE49-F238E27FC236}">
                <a16:creationId xmlns:a16="http://schemas.microsoft.com/office/drawing/2014/main" id="{795F0FEC-635F-4E83-B8C1-2307E1EA52FF}"/>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SystemMonitor samples CPU, virtual memory, disk use, process count, and top processes. DataLogger appends the normalized snapshot to CSV. Inaccessible processes are safely skipped.</a:t>
            </a:r>
          </a:p>
        </p:txBody>
      </p:sp>
      <p:sp>
        <p:nvSpPr>
          <p:cNvPr id="4" name="">
            <a:extLst xmlns:a="http://schemas.openxmlformats.org/drawingml/2006/main">
              <a:ext uri="{FF2B5EF4-FFF2-40B4-BE49-F238E27FC236}">
                <a16:creationId xmlns:a16="http://schemas.microsoft.com/office/drawing/2014/main" id="{84D64F08-4F15-4A4F-8A76-09AC01CA5A93}"/>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7 / 15</a:t>
            </a:r>
          </a:p>
        </p:txBody>
      </p:sp>
    </p:spTree>
    <p:extLst>
      <p:ext uri="{BB962C8B-B14F-4D97-AF65-F5344CB8AC3E}">
        <p14:creationId xmlns:p14="http://schemas.microsoft.com/office/powerpoint/2010/main" val="726445865"/>
      </p:ext>
    </p:extLst>
  </p:cSld>
</p:sld>
</file>

<file path=ppt/slides/slide8.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70C3C82-B203-4C56-87F7-BDAF77B25B0D}"/>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7A01A71-0F4B-46CA-A13E-B94980F517B9}"/>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AI Analytics Module</a:t>
            </a:r>
          </a:p>
        </p:txBody>
      </p:sp>
      <p:sp>
        <p:nvSpPr>
          <p:cNvPr id="3" name="">
            <a:extLst xmlns:a="http://schemas.openxmlformats.org/drawingml/2006/main">
              <a:ext uri="{FF2B5EF4-FFF2-40B4-BE49-F238E27FC236}">
                <a16:creationId xmlns:a16="http://schemas.microsoft.com/office/drawing/2014/main" id="{D45D5EE6-E242-40D7-A994-ABCD7D8D56A5}"/>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A recent sliding window receives sequential indices. Linear regression forecasts the following CPU and memory values. Threshold rules identify pressure at 80% and generate recommendations.</a:t>
            </a:r>
          </a:p>
        </p:txBody>
      </p:sp>
      <p:sp>
        <p:nvSpPr>
          <p:cNvPr id="4" name="">
            <a:extLst xmlns:a="http://schemas.openxmlformats.org/drawingml/2006/main">
              <a:ext uri="{FF2B5EF4-FFF2-40B4-BE49-F238E27FC236}">
                <a16:creationId xmlns:a16="http://schemas.microsoft.com/office/drawing/2014/main" id="{BF82F465-AFB5-481F-B921-268125ACC3FE}"/>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8 / 15</a:t>
            </a:r>
          </a:p>
        </p:txBody>
      </p:sp>
    </p:spTree>
    <p:extLst>
      <p:ext uri="{BB962C8B-B14F-4D97-AF65-F5344CB8AC3E}">
        <p14:creationId xmlns:p14="http://schemas.microsoft.com/office/powerpoint/2010/main" val="1312733703"/>
      </p:ext>
    </p:extLst>
  </p:cSld>
</p:sld>
</file>

<file path=ppt/slides/slide9.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F6FAB5C-B623-44CB-B9E5-3CBF90782D4F}"/>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5CCFE89-BC19-4425-BD71-8508E17FBBB5}"/>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Dashboard Module</a:t>
            </a:r>
          </a:p>
        </p:txBody>
      </p:sp>
      <p:sp>
        <p:nvSpPr>
          <p:cNvPr id="3" name="">
            <a:extLst xmlns:a="http://schemas.openxmlformats.org/drawingml/2006/main">
              <a:ext uri="{FF2B5EF4-FFF2-40B4-BE49-F238E27FC236}">
                <a16:creationId xmlns:a16="http://schemas.microsoft.com/office/drawing/2014/main" id="{5712F7D1-21D2-4E77-8CB5-3E49195F9FC3}"/>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The CustomTkinter interface refreshes every three seconds. It shows four metrics, a health status line, ranked processes, and export buttons. The application does not terminate processes or send telemetry.</a:t>
            </a:r>
          </a:p>
        </p:txBody>
      </p:sp>
      <p:sp>
        <p:nvSpPr>
          <p:cNvPr id="4" name="">
            <a:extLst xmlns:a="http://schemas.openxmlformats.org/drawingml/2006/main">
              <a:ext uri="{FF2B5EF4-FFF2-40B4-BE49-F238E27FC236}">
                <a16:creationId xmlns:a16="http://schemas.microsoft.com/office/drawing/2014/main" id="{855AEC2D-A40A-4440-BA7C-1BECD2F1BF01}"/>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9 / 15</a:t>
            </a:r>
          </a:p>
        </p:txBody>
      </p:sp>
    </p:spTree>
    <p:extLst>
      <p:ext uri="{BB962C8B-B14F-4D97-AF65-F5344CB8AC3E}">
        <p14:creationId xmlns:p14="http://schemas.microsoft.com/office/powerpoint/2010/main" val="285530344"/>
      </p:ext>
    </p:extLst>
  </p:cSld>
</p:sld>
</file>

<file path=ppt/slides/slide10.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2050EF1-3A7C-4D25-9677-DD083BC2F2E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66D343E-51FB-4037-93E3-5554C8470990}"/>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Application Workflow</a:t>
            </a:r>
          </a:p>
        </p:txBody>
      </p:sp>
      <p:sp>
        <p:nvSpPr>
          <p:cNvPr id="3" name="">
            <a:extLst xmlns:a="http://schemas.openxmlformats.org/drawingml/2006/main">
              <a:ext uri="{FF2B5EF4-FFF2-40B4-BE49-F238E27FC236}">
                <a16:creationId xmlns:a16="http://schemas.microsoft.com/office/drawing/2014/main" id="{9AE889AA-556D-483C-8E4D-8440C8FEED1A}"/>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Sample resources</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Log snapshot</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Analyze recent history</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Update score and forecast</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Render dashboard</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Repeat after three seconds</a:t>
            </a:r>
          </a:p>
        </p:txBody>
      </p:sp>
      <p:sp>
        <p:nvSpPr>
          <p:cNvPr id="4" name="">
            <a:extLst xmlns:a="http://schemas.openxmlformats.org/drawingml/2006/main">
              <a:ext uri="{FF2B5EF4-FFF2-40B4-BE49-F238E27FC236}">
                <a16:creationId xmlns:a16="http://schemas.microsoft.com/office/drawing/2014/main" id="{A072AC0F-E24F-464E-B0BE-A88A1DABE97F}"/>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10 / 15</a:t>
            </a:r>
          </a:p>
        </p:txBody>
      </p:sp>
    </p:spTree>
    <p:extLst>
      <p:ext uri="{BB962C8B-B14F-4D97-AF65-F5344CB8AC3E}">
        <p14:creationId xmlns:p14="http://schemas.microsoft.com/office/powerpoint/2010/main" val="807776733"/>
      </p:ext>
    </p:extLst>
  </p:cSld>
</p:sld>
</file>

<file path=ppt/slides/slide11.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45C3A4D-808A-4193-B06E-DE9829B2ABA9}"/>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8038E77-2AF4-4134-A17C-E5EC61F9E66F}"/>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Screenshots</a:t>
            </a:r>
          </a:p>
        </p:txBody>
      </p:sp>
      <p:sp>
        <p:nvSpPr>
          <p:cNvPr id="3" name="">
            <a:extLst xmlns:a="http://schemas.openxmlformats.org/drawingml/2006/main">
              <a:ext uri="{FF2B5EF4-FFF2-40B4-BE49-F238E27FC236}">
                <a16:creationId xmlns:a16="http://schemas.microsoft.com/office/drawing/2014/main" id="{8D8AE54D-A8D5-4E65-B7C5-8EFB56E887D8}"/>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Run python main.py to capture an approved local dashboard image under screenshots/. The live dashboard includes metric cards, a status forecast, top processes, and export controls. Screens are intentionally not bundled because they expose machine-specific data.</a:t>
            </a:r>
          </a:p>
        </p:txBody>
      </p:sp>
      <p:sp>
        <p:nvSpPr>
          <p:cNvPr id="4" name="">
            <a:extLst xmlns:a="http://schemas.openxmlformats.org/drawingml/2006/main">
              <a:ext uri="{FF2B5EF4-FFF2-40B4-BE49-F238E27FC236}">
                <a16:creationId xmlns:a16="http://schemas.microsoft.com/office/drawing/2014/main" id="{D64BE69D-9525-4D4A-9C71-FC581AEE85D1}"/>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11 / 15</a:t>
            </a:r>
          </a:p>
        </p:txBody>
      </p:sp>
    </p:spTree>
    <p:extLst>
      <p:ext uri="{BB962C8B-B14F-4D97-AF65-F5344CB8AC3E}">
        <p14:creationId xmlns:p14="http://schemas.microsoft.com/office/powerpoint/2010/main" val="1196680908"/>
      </p:ext>
    </p:extLst>
  </p:cSld>
</p:sld>
</file>

<file path=ppt/slides/slide12.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2258CD5-ECA9-4418-8CC5-2C6828C09690}"/>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53C6454-4D1F-4A88-85F7-D1FFCB394EEF}"/>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Results</a:t>
            </a:r>
          </a:p>
        </p:txBody>
      </p:sp>
      <p:sp>
        <p:nvSpPr>
          <p:cNvPr id="3" name="">
            <a:extLst xmlns:a="http://schemas.openxmlformats.org/drawingml/2006/main">
              <a:ext uri="{FF2B5EF4-FFF2-40B4-BE49-F238E27FC236}">
                <a16:creationId xmlns:a16="http://schemas.microsoft.com/office/drawing/2014/main" id="{0FA977C9-1307-49F2-8BEE-5243B66800C6}"/>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The supplied sample history demonstrates an increasing CPU and memory trend with stable disk usage. Results vary by host because measurements are local and live. A health score summarizes the current pressure level.</a:t>
            </a:r>
          </a:p>
        </p:txBody>
      </p:sp>
      <p:sp>
        <p:nvSpPr>
          <p:cNvPr id="4" name="">
            <a:extLst xmlns:a="http://schemas.openxmlformats.org/drawingml/2006/main">
              <a:ext uri="{FF2B5EF4-FFF2-40B4-BE49-F238E27FC236}">
                <a16:creationId xmlns:a16="http://schemas.microsoft.com/office/drawing/2014/main" id="{1FD67C3A-009A-474D-B758-D4F9527F752B}"/>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12 / 15</a:t>
            </a:r>
          </a:p>
        </p:txBody>
      </p:sp>
    </p:spTree>
    <p:extLst>
      <p:ext uri="{BB962C8B-B14F-4D97-AF65-F5344CB8AC3E}">
        <p14:creationId xmlns:p14="http://schemas.microsoft.com/office/powerpoint/2010/main" val="668401056"/>
      </p:ext>
    </p:extLst>
  </p:cSld>
</p:sld>
</file>

<file path=ppt/slides/slide13.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ECAA068-5049-4D10-93E4-B48126074904}"/>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1CCEAF3-5A0D-4BAC-9852-F7976538B9DB}"/>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Challenges</a:t>
            </a:r>
          </a:p>
        </p:txBody>
      </p:sp>
      <p:sp>
        <p:nvSpPr>
          <p:cNvPr id="3" name="">
            <a:extLst xmlns:a="http://schemas.openxmlformats.org/drawingml/2006/main">
              <a:ext uri="{FF2B5EF4-FFF2-40B4-BE49-F238E27FC236}">
                <a16:creationId xmlns:a16="http://schemas.microsoft.com/office/drawing/2014/main" id="{3177863E-FB9F-47D2-997C-0BE442F40F43}"/>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Operating systems may deny access to process metadata. The monitor handles those exceptions. Early CPU readings can be low while psutil initializes. Forecast confidence depends on the quantity and quality of retained history.</a:t>
            </a:r>
          </a:p>
        </p:txBody>
      </p:sp>
      <p:sp>
        <p:nvSpPr>
          <p:cNvPr id="4" name="">
            <a:extLst xmlns:a="http://schemas.openxmlformats.org/drawingml/2006/main">
              <a:ext uri="{FF2B5EF4-FFF2-40B4-BE49-F238E27FC236}">
                <a16:creationId xmlns:a16="http://schemas.microsoft.com/office/drawing/2014/main" id="{CA35D21C-06DA-4E32-8E7D-8D740B9BD0C1}"/>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13 / 15</a:t>
            </a:r>
          </a:p>
        </p:txBody>
      </p:sp>
    </p:spTree>
    <p:extLst>
      <p:ext uri="{BB962C8B-B14F-4D97-AF65-F5344CB8AC3E}">
        <p14:creationId xmlns:p14="http://schemas.microsoft.com/office/powerpoint/2010/main" val="1317589851"/>
      </p:ext>
    </p:extLst>
  </p:cSld>
</p:sld>
</file>

<file path=ppt/slides/slide14.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D21FE4-DB3F-4FD3-B089-C12697772795}"/>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71B605A-97B6-4053-A02E-B63F07A6565C}"/>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Future Scope</a:t>
            </a:r>
          </a:p>
        </p:txBody>
      </p:sp>
      <p:sp>
        <p:nvSpPr>
          <p:cNvPr id="3" name="">
            <a:extLst xmlns:a="http://schemas.openxmlformats.org/drawingml/2006/main">
              <a:ext uri="{FF2B5EF4-FFF2-40B4-BE49-F238E27FC236}">
                <a16:creationId xmlns:a16="http://schemas.microsoft.com/office/drawing/2014/main" id="{F49C04A6-5902-4FD4-990F-BFEEB869DF93}"/>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Add per-process time series, configurable alerts, stronger anomaly models, model persistence, and opt-in fleet aggregation with access controls.</a:t>
            </a:r>
          </a:p>
        </p:txBody>
      </p:sp>
      <p:sp>
        <p:nvSpPr>
          <p:cNvPr id="4" name="">
            <a:extLst xmlns:a="http://schemas.openxmlformats.org/drawingml/2006/main">
              <a:ext uri="{FF2B5EF4-FFF2-40B4-BE49-F238E27FC236}">
                <a16:creationId xmlns:a16="http://schemas.microsoft.com/office/drawing/2014/main" id="{7766D02A-DC31-406C-A03C-7C3C38AE34C1}"/>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14 / 15</a:t>
            </a:r>
          </a:p>
        </p:txBody>
      </p:sp>
    </p:spTree>
    <p:extLst>
      <p:ext uri="{BB962C8B-B14F-4D97-AF65-F5344CB8AC3E}">
        <p14:creationId xmlns:p14="http://schemas.microsoft.com/office/powerpoint/2010/main" val="1930352947"/>
      </p:ext>
    </p:extLst>
  </p:cSld>
</p:sld>
</file>

<file path=ppt/slides/slide15.xml><?xml version="1.0" encoding="utf-8"?>
<p:sld xmlns:p="http://schemas.openxmlformats.org/presentationml/2006/main">
  <p:cSld>
    <p:bg>
      <p:bgPr>
        <a:solidFill xmlns:a="http://schemas.openxmlformats.org/drawingml/2006/main">
          <a:srgbClr val="F7FAFC"/>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39BB5B1-861F-4563-986C-AD893A6674B8}"/>
              </a:ext>
            </a:extLst>
          </p:cNvPr>
          <p:cNvSpPr>
            <a:spLocks xmlns:a="http://schemas.openxmlformats.org/drawingml/2006/main" noGrp="1"/>
          </p:cNvSpPr>
          <p:nvPr/>
        </p:nvSpPr>
        <p:spPr>
          <a:xfrm xmlns:a="http://schemas.openxmlformats.org/drawingml/2006/main">
            <a:off x="0" y="0"/>
            <a:ext cx="12192000" cy="171450"/>
          </a:xfrm>
          <a:prstGeom xmlns:a="http://schemas.openxmlformats.org/drawingml/2006/main" prst="rect">
            <a:avLst/>
          </a:prstGeom>
          <a:solidFill xmlns:a="http://schemas.openxmlformats.org/drawingml/2006/main">
            <a:srgbClr val="0B3D5C"/>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9ADB07B-545B-4607-810B-0EBBF71159F7}"/>
              </a:ext>
            </a:extLst>
          </p:cNvPr>
          <p:cNvSpPr>
            <a:spLocks xmlns:a="http://schemas.openxmlformats.org/drawingml/2006/main" noGrp="1"/>
          </p:cNvSpPr>
          <p:nvPr/>
        </p:nvSpPr>
        <p:spPr>
          <a:xfrm xmlns:a="http://schemas.openxmlformats.org/drawingml/2006/main">
            <a:off x="762000" y="685800"/>
            <a:ext cx="1066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3000" b="1">
                <a:solidFill>
                  <a:srgbClr val="0B3D5C"/>
                </a:solidFill>
                <a:latin typeface="Arial"/>
                <a:ea typeface="Arial"/>
                <a:cs typeface="Arial"/>
              </a:defRPr>
            </a:pPr>
            <a:r>
              <a:rPr sz="3000" b="1">
                <a:solidFill>
                  <a:srgbClr val="0B3D5C"/>
                </a:solidFill>
                <a:latin typeface="Arial"/>
                <a:ea typeface="Arial"/>
                <a:cs typeface="Arial"/>
              </a:rPr>
              <a:t>Thank You</a:t>
            </a:r>
          </a:p>
        </p:txBody>
      </p:sp>
      <p:sp>
        <p:nvSpPr>
          <p:cNvPr id="3" name="">
            <a:extLst xmlns:a="http://schemas.openxmlformats.org/drawingml/2006/main">
              <a:ext uri="{FF2B5EF4-FFF2-40B4-BE49-F238E27FC236}">
                <a16:creationId xmlns:a16="http://schemas.microsoft.com/office/drawing/2014/main" id="{5B9E2CD9-B9D4-4177-AA33-7C9FF76FEA73}"/>
              </a:ext>
            </a:extLst>
          </p:cNvPr>
          <p:cNvSpPr>
            <a:spLocks xmlns:a="http://schemas.openxmlformats.org/drawingml/2006/main" noGrp="1"/>
          </p:cNvSpPr>
          <p:nvPr/>
        </p:nvSpPr>
        <p:spPr>
          <a:xfrm xmlns:a="http://schemas.openxmlformats.org/drawingml/2006/main">
            <a:off x="857250" y="1809750"/>
            <a:ext cx="10096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OSInsight-AI</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Source, diagrams, tests, report, and presentation are included in the project repository.</a:t>
            </a:r>
          </a:p>
          <a:p xmlns:a="http://schemas.openxmlformats.org/drawingml/2006/main">
            <a:r>
              <a:t/>
            </a:r>
          </a:p>
          <a:p xmlns:a="http://schemas.openxmlformats.org/drawingml/2006/main">
            <a:pPr>
              <a:defRPr sz="1800">
                <a:solidFill>
                  <a:srgbClr val="1F2937"/>
                </a:solidFill>
                <a:latin typeface="Arial"/>
                <a:ea typeface="Arial"/>
                <a:cs typeface="Arial"/>
              </a:defRPr>
            </a:pPr>
            <a:r>
              <a:rPr sz="1800">
                <a:solidFill>
                  <a:srgbClr val="1F2937"/>
                </a:solidFill>
                <a:latin typeface="Arial"/>
                <a:ea typeface="Arial"/>
                <a:cs typeface="Arial"/>
              </a:rPr>
              <a:t>github.com/sanchit11092007/OSInsight-AI</a:t>
            </a:r>
          </a:p>
        </p:txBody>
      </p:sp>
      <p:sp>
        <p:nvSpPr>
          <p:cNvPr id="4" name="">
            <a:extLst xmlns:a="http://schemas.openxmlformats.org/drawingml/2006/main">
              <a:ext uri="{FF2B5EF4-FFF2-40B4-BE49-F238E27FC236}">
                <a16:creationId xmlns:a16="http://schemas.microsoft.com/office/drawing/2014/main" id="{1E85E5AC-4645-4E4F-8AD7-0A18444E7D66}"/>
              </a:ext>
            </a:extLst>
          </p:cNvPr>
          <p:cNvSpPr>
            <a:spLocks xmlns:a="http://schemas.openxmlformats.org/drawingml/2006/main" noGrp="1"/>
          </p:cNvSpPr>
          <p:nvPr/>
        </p:nvSpPr>
        <p:spPr>
          <a:xfrm xmlns:a="http://schemas.openxmlformats.org/drawingml/2006/main">
            <a:off x="762000" y="6334125"/>
            <a:ext cx="10668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825">
                <a:solidFill>
                  <a:srgbClr val="4B5563"/>
                </a:solidFill>
                <a:latin typeface="Arial"/>
                <a:ea typeface="Arial"/>
                <a:cs typeface="Arial"/>
              </a:defRPr>
            </a:pPr>
            <a:r>
              <a:rPr sz="825">
                <a:solidFill>
                  <a:srgbClr val="4B5563"/>
                </a:solidFill>
                <a:latin typeface="Arial"/>
                <a:ea typeface="Arial"/>
                <a:cs typeface="Arial"/>
              </a:rPr>
              <a:t>OSInsight-AI   |   15 / 15</a:t>
            </a:r>
          </a:p>
        </p:txBody>
      </p:sp>
    </p:spTree>
    <p:extLst>
      <p:ext uri="{BB962C8B-B14F-4D97-AF65-F5344CB8AC3E}">
        <p14:creationId xmlns:p14="http://schemas.microsoft.com/office/powerpoint/2010/main" val="48257261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2026-10-07T06:04:22.8120000Z</dcterms:created>
  <dcterms:modified xsi:type="dcterms:W3CDTF">2026-10-07T06:04:22.8130000Z</dcterms:modified>
</coreProperties>
</file>